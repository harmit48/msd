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307" r:id="rId3"/>
    <p:sldId id="259" r:id="rId4"/>
    <p:sldId id="260" r:id="rId5"/>
    <p:sldId id="514" r:id="rId6"/>
    <p:sldId id="515" r:id="rId7"/>
    <p:sldId id="265" r:id="rId8"/>
    <p:sldId id="455" r:id="rId9"/>
    <p:sldId id="517" r:id="rId10"/>
    <p:sldId id="457" r:id="rId11"/>
    <p:sldId id="274" r:id="rId12"/>
    <p:sldId id="264" r:id="rId13"/>
    <p:sldId id="272" r:id="rId14"/>
    <p:sldId id="518" r:id="rId15"/>
    <p:sldId id="519" r:id="rId16"/>
    <p:sldId id="520" r:id="rId17"/>
    <p:sldId id="521" r:id="rId18"/>
    <p:sldId id="522" r:id="rId19"/>
    <p:sldId id="523" r:id="rId20"/>
    <p:sldId id="524" r:id="rId21"/>
    <p:sldId id="525" r:id="rId22"/>
    <p:sldId id="526" r:id="rId23"/>
    <p:sldId id="527" r:id="rId24"/>
    <p:sldId id="529" r:id="rId25"/>
    <p:sldId id="530" r:id="rId26"/>
    <p:sldId id="528" r:id="rId27"/>
    <p:sldId id="531" r:id="rId28"/>
    <p:sldId id="532" r:id="rId29"/>
    <p:sldId id="533" r:id="rId30"/>
    <p:sldId id="534" r:id="rId31"/>
    <p:sldId id="53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0D12F2-B2AC-4DA9-8CCD-D42338B416D8}">
          <p14:sldIdLst>
            <p14:sldId id="257"/>
            <p14:sldId id="307"/>
            <p14:sldId id="259"/>
            <p14:sldId id="260"/>
            <p14:sldId id="514"/>
            <p14:sldId id="515"/>
            <p14:sldId id="265"/>
            <p14:sldId id="455"/>
            <p14:sldId id="517"/>
            <p14:sldId id="457"/>
            <p14:sldId id="274"/>
            <p14:sldId id="264"/>
            <p14:sldId id="272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9"/>
            <p14:sldId id="530"/>
            <p14:sldId id="528"/>
            <p14:sldId id="531"/>
            <p14:sldId id="532"/>
            <p14:sldId id="533"/>
            <p14:sldId id="534"/>
            <p14:sldId id="5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9" autoAdjust="0"/>
    <p:restoredTop sz="62056" autoAdjust="0"/>
  </p:normalViewPr>
  <p:slideViewPr>
    <p:cSldViewPr>
      <p:cViewPr varScale="1">
        <p:scale>
          <a:sx n="82" d="100"/>
          <a:sy n="82" d="100"/>
        </p:scale>
        <p:origin x="1426" y="58"/>
      </p:cViewPr>
      <p:guideLst>
        <p:guide orient="horz" pos="2179"/>
        <p:guide pos="2880"/>
      </p:guideLst>
    </p:cSldViewPr>
  </p:slideViewPr>
  <p:outlineViewPr>
    <p:cViewPr>
      <p:scale>
        <a:sx n="33" d="100"/>
        <a:sy n="33" d="100"/>
      </p:scale>
      <p:origin x="0" y="831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185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3D12CE-5252-4E62-AE9D-CBD93A333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1D3A8-A74B-4759-B385-1E37A210E0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25462-C9EB-4EAE-BFDB-BE181803CA8A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53A01-FD91-4820-9195-DC89001B61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8C71B-DEB3-4A39-8FB5-6A85C79243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FD1DC-12B9-4FC3-B52B-53C0F20E3F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5894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C55BE-8A42-4DB6-8ADA-8751AFED0ABF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3B7A-7D79-4CED-9F05-155A26EA2C0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5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23B7A-7D79-4CED-9F05-155A26EA2C00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923B7A-7D79-4CED-9F05-155A26EA2C00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60E00D-3B2B-46E4-996E-D809D2CF0536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E9373-094D-4028-9D41-C29582083B40}" type="datetimeFigureOut">
              <a:rPr lang="en-US" smtClean="0"/>
              <a:pPr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7FE39-0AE2-4192-866C-B69403DE071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562600"/>
          </a:xfrm>
        </p:spPr>
        <p:txBody>
          <a:bodyPr>
            <a:normAutofit fontScale="85000" lnSpcReduction="20000"/>
          </a:bodyPr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Information And Service Portal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4052570" algn="l"/>
              </a:tabLst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pPr algn="ctr">
              <a:buNone/>
              <a:tabLst>
                <a:tab pos="2633345" algn="l"/>
              </a:tabLst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Prajapati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Hasmukhbhai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(En. No:-23082221080)</a:t>
            </a:r>
          </a:p>
          <a:p>
            <a:pPr algn="ctr">
              <a:buNone/>
              <a:tabLst>
                <a:tab pos="263334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Prajapati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Pruthvi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Prakashbhai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(En. No:-23082221081)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70000"/>
              </a:lnSpc>
              <a:buFont typeface="Arial" panose="020B0604020202020204" pitchFamily="34" charset="0"/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B.Sc.(CA&amp;IT)  - VI</a:t>
            </a:r>
          </a:p>
          <a:p>
            <a:pPr algn="ctr">
              <a:lnSpc>
                <a:spcPct val="17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U16A1PRII : INDUSTRIAL PROJECT – II</a:t>
            </a:r>
            <a:b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No:-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</a:t>
            </a:r>
          </a:p>
          <a:p>
            <a:pPr algn="ctr">
              <a:lnSpc>
                <a:spcPct val="12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Asha Patel</a:t>
            </a:r>
          </a:p>
          <a:p>
            <a:pPr algn="ctr">
              <a:lnSpc>
                <a:spcPct val="120000"/>
              </a:lnSpc>
              <a:buNone/>
            </a:pPr>
            <a:endParaRPr lang="en-US" sz="15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</a:t>
            </a:r>
          </a:p>
          <a:p>
            <a:pPr algn="ctr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Ganpat University, Ganpat Vidyanagar – 384012</a:t>
            </a:r>
          </a:p>
          <a:p>
            <a:pPr algn="ctr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</a:t>
            </a: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Year 2025-2026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WhatsApp Image 2025-10-30 at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76200"/>
            <a:ext cx="7024688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48000" y="228600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537601"/>
              </p:ext>
            </p:extLst>
          </p:nvPr>
        </p:nvGraphicFramePr>
        <p:xfrm>
          <a:off x="228600" y="838200"/>
          <a:ext cx="8610600" cy="400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2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7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 Profile  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eaLnBrk="1" hangingPunct="1">
                        <a:buFont typeface="Arial" panose="020B0604020202020204" pitchFamily="34" charset="0"/>
                        <a:buNone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City Information And Service Portal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Objective: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1600" kern="1200" dirty="0">
                          <a:effectLst/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To develop a Smart City portal that provides city information and online services on a single platform for efficient and smart governance.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of Application: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 Application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 End Tool: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lang="en-US" sz="16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 ES6+, React.js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 End Tool: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</a:t>
                      </a:r>
                      <a:r>
                        <a:rPr lang="en-US" sz="1600" kern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Atlas Cloud )</a:t>
                      </a:r>
                      <a:endParaRPr lang="en-US" sz="1600" b="0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Duration 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6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 Days</a:t>
                      </a:r>
                      <a:endParaRPr kumimoji="0" lang="en-IN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Project Guide 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Asha Patel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06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By</a:t>
                      </a:r>
                      <a:r>
                        <a:rPr lang="en-US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Prajapati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Prince: 23082221080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Prajapati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Pruthvi</a:t>
                      </a: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23082221081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38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To :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flipH="1">
            <a:off x="228600" y="909697"/>
            <a:ext cx="8686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City information and services are  provided through the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Mehsana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Municipal Corporation website.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Citizens use the website to get details, submit forms, and request services online.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Complaints can be registered through the site, though some work still continues offline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Communication between citizens and authorities is slow and time-consuming.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28600"/>
            <a:ext cx="358140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u="sng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8600" y="927318"/>
            <a:ext cx="868680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provide a fully digital and user-friendly smart city portal instead of limited website services.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allow citizens to apply, track, and receive services online without visiting offices.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improve complaint handling with real-time tracking and faster responses.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To integrate all departments and services into one centralized online system.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19402" y="228600"/>
            <a:ext cx="3581399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b="1" u="sng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NEED FOR NEW SYSTEM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72FD14-BC63-4293-AD0F-C7CDDF615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076312"/>
              </p:ext>
            </p:extLst>
          </p:nvPr>
        </p:nvGraphicFramePr>
        <p:xfrm>
          <a:off x="457200" y="3352800"/>
          <a:ext cx="8305800" cy="276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4787">
                  <a:extLst>
                    <a:ext uri="{9D8B030D-6E8A-4147-A177-3AD203B41FA5}">
                      <a16:colId xmlns:a16="http://schemas.microsoft.com/office/drawing/2014/main" val="505070111"/>
                    </a:ext>
                  </a:extLst>
                </a:gridCol>
                <a:gridCol w="1788424">
                  <a:extLst>
                    <a:ext uri="{9D8B030D-6E8A-4147-A177-3AD203B41FA5}">
                      <a16:colId xmlns:a16="http://schemas.microsoft.com/office/drawing/2014/main" val="3869067067"/>
                    </a:ext>
                  </a:extLst>
                </a:gridCol>
                <a:gridCol w="1244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393">
                  <a:extLst>
                    <a:ext uri="{9D8B030D-6E8A-4147-A177-3AD203B41FA5}">
                      <a16:colId xmlns:a16="http://schemas.microsoft.com/office/drawing/2014/main" val="1949414358"/>
                    </a:ext>
                  </a:extLst>
                </a:gridCol>
                <a:gridCol w="841075">
                  <a:extLst>
                    <a:ext uri="{9D8B030D-6E8A-4147-A177-3AD203B41FA5}">
                      <a16:colId xmlns:a16="http://schemas.microsoft.com/office/drawing/2014/main" val="3865447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Website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Easy Navigation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Complaint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Service Provider List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Secure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45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www.digitalgujarat.gov.in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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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6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ahmedabadcity.gov.in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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955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www.Suratmunicipal.gov.in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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500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mahesanacity.in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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946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Smart City Information &amp; Service</a:t>
                      </a:r>
                      <a:r>
                        <a:rPr lang="en-US" baseline="0" dirty="0">
                          <a:latin typeface="Times New Roman" pitchFamily="18" charset="0"/>
                          <a:cs typeface="Times New Roman" pitchFamily="18" charset="0"/>
                        </a:rPr>
                        <a:t> Portal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  <a:sym typeface="Wingdings"/>
                        </a:rPr>
                        <a:t>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2738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05878"/>
            <a:ext cx="8534400" cy="609600"/>
          </a:xfrm>
        </p:spPr>
        <p:txBody>
          <a:bodyPr>
            <a:norm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32299"/>
            <a:ext cx="8534400" cy="5144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   Admin:-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admin can login into the system by entering valid credentials.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admin can manage all users.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admin can manage city information and public services.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admin can manage staff accounts 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admin can view reports related to Services, and complaints</a:t>
            </a:r>
          </a:p>
        </p:txBody>
      </p:sp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USER OF THE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669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05878"/>
            <a:ext cx="8534400" cy="609600"/>
          </a:xfrm>
        </p:spPr>
        <p:txBody>
          <a:bodyPr>
            <a:norm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32299"/>
            <a:ext cx="8534400" cy="5144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   Staff:-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staff  has to register on website by giving some information. 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staff can login on the website by providing some personal information.</a:t>
            </a:r>
          </a:p>
          <a:p>
            <a:pPr marL="914400" lvl="2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staff  has to solve complaints and can update the status of  Complaints.</a:t>
            </a:r>
          </a:p>
          <a:p>
            <a:pPr marL="914400" lvl="2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 with users regarding their requests.</a:t>
            </a:r>
          </a:p>
        </p:txBody>
      </p:sp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USER OF THE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10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05878"/>
            <a:ext cx="8534400" cy="609600"/>
          </a:xfrm>
        </p:spPr>
        <p:txBody>
          <a:bodyPr>
            <a:norm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32299"/>
            <a:ext cx="8534400" cy="5144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   User:-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has to register on website by giving some information. 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login on the website by providing some personal information.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submit complaints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see the tourist places and service provider contact details.</a:t>
            </a:r>
          </a:p>
          <a:p>
            <a:pPr marL="1428750" lvl="2" indent="-514350">
              <a:buFont typeface="Wingdings" panose="05000000000000000000" pitchFamily="2" charset="2"/>
              <a:buChar char="Ø"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view and update his/her profile.</a:t>
            </a:r>
          </a:p>
          <a:p>
            <a:pPr marL="514350" indent="-514350">
              <a:buAutoNum type="arabicParenBoth"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USER OF THE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05878"/>
            <a:ext cx="8534400" cy="609600"/>
          </a:xfrm>
        </p:spPr>
        <p:txBody>
          <a:bodyPr>
            <a:norm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32299"/>
            <a:ext cx="8534400" cy="514470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:-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and staff can register on the website.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Login:-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admin, staff and user can login on the website.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User:-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all user but staff and user can only manage their own profile.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Complaint And Services :-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staff can manage services and solve all complaints.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 user can register complaints and access other services.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MODULE OF THE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898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05878"/>
            <a:ext cx="8534400" cy="609600"/>
          </a:xfrm>
        </p:spPr>
        <p:txBody>
          <a:bodyPr>
            <a:norm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32299"/>
            <a:ext cx="8534400" cy="5144701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20000"/>
              </a:lnSpc>
              <a:buNone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Report:-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admin can see reports of  received, solved and pending complaints and other services data 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MODULE OF THE 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64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762000" y="152403"/>
            <a:ext cx="7772400" cy="53339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SYSTEM REQUIREMENT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E705D9F-2917-4418-A02B-66F6852DA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 MINIMUM SOFTWARE REQUIREMENT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5BA8BA-F68F-4A31-AC5A-652882484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43237"/>
              </p:ext>
            </p:extLst>
          </p:nvPr>
        </p:nvGraphicFramePr>
        <p:xfrm>
          <a:off x="609600" y="1676400"/>
          <a:ext cx="79248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  Side  Requirement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System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lang="en-US" sz="160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lang="en-US"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2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lang="en-US" sz="16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lang="en-US"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lang="en-US" sz="1600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lang="en-US" sz="16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lang="en-US" sz="1600" spc="-7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js</a:t>
                      </a:r>
                      <a:r>
                        <a:rPr lang="en-US"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(v12.22.12)</a:t>
                      </a:r>
                      <a:r>
                        <a:rPr lang="en-US" sz="16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lang="en-US"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Express.js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Tools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n-US" sz="1600" spc="-20" dirty="0" err="1">
                          <a:latin typeface="Times New Roman"/>
                          <a:cs typeface="Times New Roman"/>
                        </a:rPr>
                        <a:t>Javascript</a:t>
                      </a:r>
                      <a:r>
                        <a:rPr lang="en-US" sz="1600" spc="-20" dirty="0">
                          <a:latin typeface="Times New Roman"/>
                          <a:cs typeface="Times New Roman"/>
                        </a:rPr>
                        <a:t> ES6+, React.js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Back-End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Tool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1600" spc="-10" dirty="0" err="1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MongoDB</a:t>
                      </a:r>
                      <a:r>
                        <a:rPr lang="en-US" sz="1600" spc="-15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(Atlas</a:t>
                      </a:r>
                      <a:r>
                        <a:rPr lang="en-US" sz="1600" spc="-4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solidFill>
                            <a:srgbClr val="0D0D0D"/>
                          </a:solidFill>
                          <a:latin typeface="Times New Roman"/>
                          <a:cs typeface="Times New Roman"/>
                        </a:rPr>
                        <a:t>Cloud)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3E0FEEC-C8B2-42E0-BAE7-8B474FC5E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522557"/>
              </p:ext>
            </p:extLst>
          </p:nvPr>
        </p:nvGraphicFramePr>
        <p:xfrm>
          <a:off x="609600" y="4267200"/>
          <a:ext cx="79248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</a:t>
                      </a:r>
                      <a:r>
                        <a:rPr lang="en-US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Side Requirement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lang="en-US" sz="16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lang="en-US"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lang="en-US" sz="16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lang="en-US" sz="1600" spc="2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lang="en-US" sz="1600" spc="2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3211830" algn="l"/>
                        </a:tabLst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lang="en-US"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Chrome</a:t>
                      </a:r>
                      <a:r>
                        <a:rPr lang="en-US"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lang="en-US" sz="16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lang="en-US" sz="16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lang="en-US" sz="1600" spc="-10" baseline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Browser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0705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762000" y="152403"/>
            <a:ext cx="7772400" cy="53339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SYSTEM REQUIREMENT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5831"/>
              </p:ext>
            </p:extLst>
          </p:nvPr>
        </p:nvGraphicFramePr>
        <p:xfrm>
          <a:off x="609600" y="1676400"/>
          <a:ext cx="79248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 gridSpan="2"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r>
                        <a:rPr lang="en-US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Side Requirement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GHz </a:t>
                      </a: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lang="en-US"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600" spc="-10" dirty="0">
                          <a:latin typeface="Times New Roman"/>
                          <a:cs typeface="Times New Roman"/>
                        </a:rPr>
                        <a:t>higher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GB(Free Space)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512124"/>
              </p:ext>
            </p:extLst>
          </p:nvPr>
        </p:nvGraphicFramePr>
        <p:xfrm>
          <a:off x="609600" y="4038600"/>
          <a:ext cx="79248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</a:t>
                      </a:r>
                      <a:r>
                        <a:rPr lang="en-US" sz="1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Side Requirement</a:t>
                      </a:r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1.88</a:t>
                      </a:r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GHz or Higher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GB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GB(Free Space)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6E705D9F-2917-4418-A02B-66F6852DA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841919"/>
            <a:ext cx="8534400" cy="3693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5.2 MINIMUM HARDWARE REQUIREMENT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2200" y="3228945"/>
            <a:ext cx="441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</a:rPr>
              <a:t>6. SYSTEM FLOWCHART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/>
          <p:cNvCxnSpPr/>
          <p:nvPr/>
        </p:nvCxnSpPr>
        <p:spPr>
          <a:xfrm rot="16200000" flipH="1">
            <a:off x="0" y="4191000"/>
            <a:ext cx="15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Blank diagram (7)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199" y="0"/>
            <a:ext cx="822960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14ED4C-6472-69E1-1124-92380F69E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0"/>
            <a:ext cx="80772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5D42444-DC9C-183E-29AA-7C8D4EC7A67A}"/>
              </a:ext>
            </a:extLst>
          </p:cNvPr>
          <p:cNvCxnSpPr/>
          <p:nvPr/>
        </p:nvCxnSpPr>
        <p:spPr>
          <a:xfrm>
            <a:off x="6248400" y="487680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05100" y="3228945"/>
            <a:ext cx="373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ER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lank diagram (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2" cy="68580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3550920" y="525780"/>
            <a:ext cx="16002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43000" y="523875"/>
            <a:ext cx="14478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rot="5400000">
            <a:off x="-151606" y="5028406"/>
            <a:ext cx="16764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219200" y="6172200"/>
            <a:ext cx="7620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819400" y="6172200"/>
            <a:ext cx="47244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5400000">
            <a:off x="5524500" y="4152900"/>
            <a:ext cx="4039394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85800" y="6553200"/>
            <a:ext cx="73914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647700" y="6515100"/>
            <a:ext cx="762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>
            <a:off x="6438106" y="4229100"/>
            <a:ext cx="4191794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7391797" y="11426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5981700" y="525780"/>
            <a:ext cx="2019300" cy="762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rot="5400000">
            <a:off x="4952603" y="12950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rot="5400000">
            <a:off x="4952603" y="32000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168400" y="4000500"/>
            <a:ext cx="16002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733800" y="3998912"/>
            <a:ext cx="14478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3694611" y="5789612"/>
            <a:ext cx="2629989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 rot="5400000">
            <a:off x="4549040" y="4019399"/>
            <a:ext cx="3550326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3695700" y="2260600"/>
            <a:ext cx="13716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6096000" y="2246312"/>
            <a:ext cx="2286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2641997" y="49653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rot="5400000">
            <a:off x="2641997" y="30476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rot="5400000">
            <a:off x="76597" y="32000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 rot="5400000">
            <a:off x="76597" y="1295003"/>
            <a:ext cx="1219200" cy="7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rot="5400000">
            <a:off x="581026" y="1095374"/>
            <a:ext cx="895348" cy="76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rot="16200000" flipH="1">
            <a:off x="914400" y="914400"/>
            <a:ext cx="609600" cy="1524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rot="16200000" flipH="1">
            <a:off x="1066800" y="685800"/>
            <a:ext cx="4572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1143000" y="609600"/>
            <a:ext cx="457200" cy="2286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rot="5400000">
            <a:off x="3086100" y="1866900"/>
            <a:ext cx="3810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rot="5400000">
            <a:off x="3238500" y="1943100"/>
            <a:ext cx="152400" cy="76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rot="10800000">
            <a:off x="2971800" y="1905000"/>
            <a:ext cx="304800" cy="1524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/>
          <p:nvPr/>
        </p:nvCxnSpPr>
        <p:spPr>
          <a:xfrm rot="10800000">
            <a:off x="2614615" y="2209800"/>
            <a:ext cx="2286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rot="5400000">
            <a:off x="4686300" y="3314700"/>
            <a:ext cx="9906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 rot="16200000" flipH="1">
            <a:off x="4648200" y="3276600"/>
            <a:ext cx="7620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/>
          <p:cNvCxnSpPr/>
          <p:nvPr/>
        </p:nvCxnSpPr>
        <p:spPr>
          <a:xfrm rot="16200000" flipH="1">
            <a:off x="4724400" y="3352800"/>
            <a:ext cx="533400" cy="3810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4581524" y="3521867"/>
            <a:ext cx="6096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4805362" y="3757618"/>
            <a:ext cx="381000" cy="76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 rot="16200000" flipH="1">
            <a:off x="5600700" y="876300"/>
            <a:ext cx="533400" cy="1524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/>
          <p:nvPr/>
        </p:nvCxnSpPr>
        <p:spPr>
          <a:xfrm>
            <a:off x="5791200" y="685800"/>
            <a:ext cx="304800" cy="2286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 rot="5400000">
            <a:off x="4800600" y="990600"/>
            <a:ext cx="838200" cy="2286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/>
          <p:cNvCxnSpPr/>
          <p:nvPr/>
        </p:nvCxnSpPr>
        <p:spPr>
          <a:xfrm rot="5400000">
            <a:off x="4838700" y="723900"/>
            <a:ext cx="533400" cy="457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 rot="10800000" flipV="1">
            <a:off x="4495800" y="685800"/>
            <a:ext cx="8382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rot="5400000">
            <a:off x="736997" y="3420661"/>
            <a:ext cx="778665" cy="33346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 rot="5400000">
            <a:off x="973935" y="3448048"/>
            <a:ext cx="533401" cy="228603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10800000" flipV="1">
            <a:off x="1143000" y="3657600"/>
            <a:ext cx="533402" cy="1524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/>
          <p:nvPr/>
        </p:nvCxnSpPr>
        <p:spPr>
          <a:xfrm rot="10800000">
            <a:off x="1143000" y="4191000"/>
            <a:ext cx="609600" cy="76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/>
          <p:nvPr/>
        </p:nvCxnSpPr>
        <p:spPr>
          <a:xfrm rot="16200000" flipV="1">
            <a:off x="1133476" y="4181476"/>
            <a:ext cx="3048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/>
          <p:nvPr/>
        </p:nvCxnSpPr>
        <p:spPr>
          <a:xfrm rot="16200000" flipV="1">
            <a:off x="990600" y="4343400"/>
            <a:ext cx="457200" cy="1524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rot="10800000">
            <a:off x="1905000" y="5943600"/>
            <a:ext cx="304800" cy="76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 rot="16200000" flipV="1">
            <a:off x="2057400" y="5867400"/>
            <a:ext cx="228600" cy="762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/>
          <p:nvPr/>
        </p:nvCxnSpPr>
        <p:spPr>
          <a:xfrm rot="5400000" flipH="1" flipV="1">
            <a:off x="2018506" y="5753100"/>
            <a:ext cx="457994" cy="76994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 rot="5400000" flipH="1" flipV="1">
            <a:off x="2057400" y="5562600"/>
            <a:ext cx="6096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/>
          <p:nvPr/>
        </p:nvCxnSpPr>
        <p:spPr>
          <a:xfrm rot="5400000" flipH="1" flipV="1">
            <a:off x="3048000" y="5105400"/>
            <a:ext cx="914400" cy="1588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 rot="5400000" flipH="1" flipV="1">
            <a:off x="3276600" y="5105400"/>
            <a:ext cx="685800" cy="2286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 rot="5400000" flipH="1" flipV="1">
            <a:off x="3429000" y="5105400"/>
            <a:ext cx="533400" cy="3810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 flipV="1">
            <a:off x="3505200" y="5257800"/>
            <a:ext cx="533400" cy="304800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rot="16200000" flipV="1">
            <a:off x="7924802" y="5791199"/>
            <a:ext cx="990599" cy="76203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/>
          <p:cNvCxnSpPr/>
          <p:nvPr/>
        </p:nvCxnSpPr>
        <p:spPr>
          <a:xfrm rot="16200000" flipV="1">
            <a:off x="8001001" y="5867402"/>
            <a:ext cx="762001" cy="152397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/>
          <p:cNvCxnSpPr/>
          <p:nvPr/>
        </p:nvCxnSpPr>
        <p:spPr>
          <a:xfrm rot="16200000" flipV="1">
            <a:off x="8077202" y="5943601"/>
            <a:ext cx="533401" cy="22859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/>
          <p:cNvCxnSpPr/>
          <p:nvPr/>
        </p:nvCxnSpPr>
        <p:spPr>
          <a:xfrm rot="16200000" flipV="1">
            <a:off x="8153402" y="6019801"/>
            <a:ext cx="304801" cy="304799"/>
          </a:xfrm>
          <a:prstGeom prst="line">
            <a:avLst/>
          </a:prstGeom>
          <a:ln w="127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2200" y="3198495"/>
            <a:ext cx="4456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DATAFLOW DIAGRAM</a:t>
            </a:r>
            <a:endParaRPr lang="en-IN" alt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2200" y="3198495"/>
            <a:ext cx="4456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 LEVEL  DFD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level 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7900"/>
            <a:ext cx="91440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7809" y="3228945"/>
            <a:ext cx="35883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8.2  FIRST  LEVEL  DFD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95B6DC-68A4-49A3-A294-F6AF30246EA6}"/>
              </a:ext>
            </a:extLst>
          </p:cNvPr>
          <p:cNvSpPr/>
          <p:nvPr/>
        </p:nvSpPr>
        <p:spPr>
          <a:xfrm>
            <a:off x="1038227" y="228600"/>
            <a:ext cx="70675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 LEVEL  DFD ADMIN SIDE</a:t>
            </a:r>
            <a:endParaRPr lang="en-US" dirty="0"/>
          </a:p>
        </p:txBody>
      </p:sp>
      <p:pic>
        <p:nvPicPr>
          <p:cNvPr id="4" name="Picture 3" descr="1level Admin 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81000"/>
            <a:ext cx="8783720" cy="670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E294D6-ED79-4C20-91BE-CE8C543D2CAD}"/>
              </a:ext>
            </a:extLst>
          </p:cNvPr>
          <p:cNvSpPr/>
          <p:nvPr/>
        </p:nvSpPr>
        <p:spPr>
          <a:xfrm>
            <a:off x="1038227" y="228600"/>
            <a:ext cx="70675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 LEVEL  DFD STAFF SIDE</a:t>
            </a:r>
            <a:endParaRPr lang="en-US" dirty="0"/>
          </a:p>
        </p:txBody>
      </p:sp>
      <p:pic>
        <p:nvPicPr>
          <p:cNvPr id="4" name="Picture 3" descr="1level Staff 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50" y="457200"/>
            <a:ext cx="8658499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E294D6-ED79-4C20-91BE-CE8C543D2CAD}"/>
              </a:ext>
            </a:extLst>
          </p:cNvPr>
          <p:cNvSpPr/>
          <p:nvPr/>
        </p:nvSpPr>
        <p:spPr>
          <a:xfrm>
            <a:off x="1038227" y="228600"/>
            <a:ext cx="70675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 LEVEL  DFD BIDDER SIDE</a:t>
            </a:r>
            <a:endParaRPr lang="en-US" dirty="0"/>
          </a:p>
        </p:txBody>
      </p:sp>
      <p:pic>
        <p:nvPicPr>
          <p:cNvPr id="4" name="Picture 3" descr="1level user 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50" y="533400"/>
            <a:ext cx="8658499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534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DATA  DICTIONARY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304803" y="891689"/>
            <a:ext cx="85343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NAME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447802"/>
            <a:ext cx="8534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 Places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complaints</a:t>
            </a:r>
          </a:p>
          <a:p>
            <a:pPr marL="342900" indent="-342900">
              <a:buFont typeface="+mj-lt"/>
              <a:buAutoNum type="arabicParenR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274221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admin_id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 admin id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&amp; id is Auto 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Admin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email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Email.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admin@gmail.com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password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(150)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Password.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$2y$10$5v0DlzDlSXfyExABdHr/dOe…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admin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admin_id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admin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367185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staff_id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id &amp; id is Auto 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Jay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email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Email.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Jay@gmail.com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password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(150)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Password.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$2y$10$5v0DlzDlSXfyExABdHr/dOe…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phone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Int(10)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Phone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number.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9675465756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119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department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Varchar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(30)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Not 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To Store  the department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Public utilities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staff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staff_id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staff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322989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user_id.&amp; id is Auto 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Username.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ajay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user_email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User’s Email.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ajay@gmail.com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user_password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(150)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User’s 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Passw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--ord.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$2y$10$5v0DlzDlSXfyExABdHr/dOe…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user_phone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Int(10)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User’s Phone number.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9675456756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11907"/>
                  </a:ext>
                </a:extLst>
              </a:tr>
            </a:tbl>
          </a:graphicData>
        </a:graphic>
      </p:graphicFrame>
      <p:graphicFrame>
        <p:nvGraphicFramePr>
          <p:cNvPr id="3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user_id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user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274221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amenities_id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id &amp; id is Auto 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Amenity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Amenity 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Bank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Category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Type of Amenity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Finance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Total_count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total number of amenities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amenities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amenities_id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amenities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Amenities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386997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touristplace_id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id &amp; id is Auto 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place_name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Place 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Annapurna temple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(150)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Description of place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Famous spiritual temple and annual fair (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Melo</a:t>
                      </a: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 in </a:t>
                      </a:r>
                      <a:r>
                        <a:rPr lang="en-US" sz="1600" b="0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Modipur</a:t>
                      </a:r>
                      <a:endParaRPr lang="en-US" sz="1600" b="0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location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(150)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place location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https://www.google.com/maps/search/Mehsana Sun Temple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image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Varchar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(50)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Not 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To store Image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/uploads/place1.jpg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Tourist_place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Touristplace_id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Tourist places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 place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274221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Business_id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id &amp; id is Auto 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Business 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Brahmani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Electrics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Contact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(10)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conatact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6549873215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(150)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type of business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Electrician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Service_Provider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Business_id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business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322989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property_id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id &amp; id is Auto 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owner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owner name.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Raj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 </a:t>
                      </a:r>
                      <a:r>
                        <a:rPr lang="en-US" sz="1600" baseline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patel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Propert_type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Type of property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Land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Property_number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(5)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property number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123456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contact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Int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(10)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Not Null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To store the owners number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6589754896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properties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property_id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property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743325"/>
              </p:ext>
            </p:extLst>
          </p:nvPr>
        </p:nvGraphicFramePr>
        <p:xfrm>
          <a:off x="342900" y="2438402"/>
          <a:ext cx="8458200" cy="2742217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692033038"/>
                    </a:ext>
                  </a:extLst>
                </a:gridCol>
              </a:tblGrid>
              <a:tr h="5486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DataType(Size)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Data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complaint_id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Int (3)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 Key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id &amp; id is Auto Increment.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Issue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issue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Water leakage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Department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Type of complaint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Water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cs typeface="Arial" panose="020B0604020202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0735" marR="60735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Address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Varchar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(50)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Not Null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 store the address of  issue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Modhera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 road 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mehsana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13447"/>
              </p:ext>
            </p:extLst>
          </p:nvPr>
        </p:nvGraphicFramePr>
        <p:xfrm>
          <a:off x="342900" y="838200"/>
          <a:ext cx="8458200" cy="1143000"/>
        </p:xfrm>
        <a:graphic>
          <a:graphicData uri="http://schemas.openxmlformats.org/drawingml/2006/table">
            <a:tbl>
              <a:tblPr/>
              <a:tblGrid>
                <a:gridCol w="209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6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 Name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complaints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9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Primary Key : 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complaint_id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Description    : - 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 store complaint information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228600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5930</TotalTime>
  <Words>1770</Words>
  <Application>Microsoft Office PowerPoint</Application>
  <PresentationFormat>On-screen Show (4:3)</PresentationFormat>
  <Paragraphs>525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4. FUNCTIONAL SPECIFICATION</vt:lpstr>
      <vt:lpstr>4. FUNCTIONAL SPECIFICATION</vt:lpstr>
      <vt:lpstr>4. FUNCTIONAL SPECIFICATION</vt:lpstr>
      <vt:lpstr>4. FUNCTIONAL SPECIFICATION</vt:lpstr>
      <vt:lpstr>4. FUNCTIONAL SPECIFICATION</vt:lpstr>
      <vt:lpstr>5. SYSTEM REQUIREMENT</vt:lpstr>
      <vt:lpstr>5. SYSTEM REQUIREMENT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Pruthvi Prajapa</cp:lastModifiedBy>
  <cp:revision>3862</cp:revision>
  <dcterms:created xsi:type="dcterms:W3CDTF">2014-07-23T17:01:00Z</dcterms:created>
  <dcterms:modified xsi:type="dcterms:W3CDTF">2026-01-10T05:57:29Z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11B7066A718B47E89E933D925C8B779C</vt:lpwstr>
  </property>
  <property fmtid="{D5CDD505-2E9C-101B-9397-08002B2CF9AE}" pid="3" name="KSOProductBuildVer">
    <vt:lpwstr>1033-11.2.0.10351</vt:lpwstr>
  </property>
</Properties>
</file>